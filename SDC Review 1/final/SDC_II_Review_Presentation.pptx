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SLIDE 1: BASE PAPER &amp; RESEARCH GAP</a:t>
            </a:r>
          </a:p>
          <a:p>
            <a:pPr>
              <a:defRPr sz="1300">
                <a:solidFill>
                  <a:srgbClr val="2563EB"/>
                </a:solidFill>
                <a:latin typeface="Calibri"/>
              </a:defRPr>
            </a:pPr>
            <a:r>
              <a:t>Reference Literature: OpenScholar (Asai et al., 2024) vs. Proposed ResearchNexus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1. Base Paper Summary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Title: OpenScholar: Synthesizing Scientific Literature with Open Datastores and Language Models (Asai et al., 2024).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Core Focus: Multi-paper literature synthesis over open datastores (OSDS: ~45M open papers).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Base Setup: Dense retrieval (Bi-Encoder) -&gt; Cross-Encoder Reranker -&gt; Fine-tuned LLM (Llama-3/Mistral).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Finding: Open-access RAG outperforms proprietary black-box LLMs in factual grounding.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2. Base Paper Limitations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Dense Retrieval Misses Keywords: Fails to capture exact acronyms, model names ('ds_nexus_v10'), or formulas.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Black-Box Blackhole: Zero transparency/XAI into why papers were selected or how reranking altered order.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Passive Citation Hallucination: RAG treats citations as text decor; model memory causes 15-25% unsupported rate.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No Citation Repair: Lacks automated NLI verification to detect and fix invalid inline citation tags.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3. Research Gap &amp; Our Extension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Research Gap: Absence of explainable RAG unifying hybrid search with post-hoc NLI citation repair without model fine-tuning.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Hybrid Search: Fuses BM25 + ChromaDB (BGE-v1.5) via RRF (k=60).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BGE Reranking: Evaluates query-snippet cross-attention via bge-reranker-base.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XAI Trace Modal: Exposes exact BM25, vector distance, and RRF scores.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- NLI Claim Repair: Sentence-level NLI entailment auto-re-links invalid citations.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SLIDE 2: PROJECT REQUIREMENTS</a:t>
            </a:r>
          </a:p>
          <a:p>
            <a:pPr>
              <a:defRPr sz="1300">
                <a:solidFill>
                  <a:srgbClr val="2563EB"/>
                </a:solidFill>
                <a:latin typeface="Calibri"/>
              </a:defRPr>
            </a:pPr>
            <a:r>
              <a:t>Problem Formalization, Objectives, Stakeholders, and Core Feature Inventory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7550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1. Problem Statement &amp; Motivation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Problem: Manual literature review across 100s of PDFs takes days; commercial chatbots hallucinate non-existent DOIs and misquote findings.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Motivation: Deliver a fast, auditable scientific assistant guaranteeing &gt;95% Citation Precision and eliminating ungrounded claim hallucinations.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1463040"/>
            <a:ext cx="517550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2. System Objectives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Primary Objective: Build an end-to-end scientific research OS with verifiable citation attribution and sub-second retrieval performance.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Specific Objectives: (1) RRF Hybrid Search (k=60), (2) BGE Cross-Encoder Reranking, (3) Enhanced RAG Context Bounding, (4) Phase 3.4 NLI Claim Verification &amp; Repair, (5) Interactive XAI Traces.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7550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3. Target Stakeholders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Undergraduate Students: Rapid literature search and domain exploration.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Postgraduate Scholars &amp; Faculty: Conducting multi-paper synthesis and identifying open research gaps for thesis proposals.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Domain Scientists &amp; R&amp;D Teams: Extracting specific quantitative findings with 100% evidence traceability.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3931920"/>
            <a:ext cx="5175504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4. Core Feature Inventory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Research Explorer: Hybrid search across local KB and 6 external academic APIs.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AI Assistant: Grounded chat with prompt context scope dropdowns.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Multi-Paper Comparison Matrix: 10-dimension comparison across 2-5 papers.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Personal Corpus: PDF upload, PyMuPDF extraction, and user_id vector isolation.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- Research Sessions: SQLite state persistence saving queries, chats, and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SLIDE 3: DESIGN AND ARCHITECTURE</a:t>
            </a:r>
          </a:p>
          <a:p>
            <a:pPr>
              <a:defRPr sz="1300">
                <a:solidFill>
                  <a:srgbClr val="2563EB"/>
                </a:solidFill>
                <a:latin typeface="Calibri"/>
              </a:defRPr>
            </a:pPr>
            <a:r>
              <a:t>Technology Stack, Dual-Database Engine, and System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1. Complete Technology Stack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Frontend: React 18, TypeScript 5, Vite 5 (13.04s build), Tailwind CSS, Zustand.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Backend: FastAPI (Python 3.13) async ASGI, Pydantic validation, SQLAlchemy.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Relational DB: SQLite / PostgreSQL for metadata, accounts, session history, logs.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Vector DB: ChromaDB storing 14,850 768-dim vectors via HNSW ANN indexing.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Document Parsing: PyMuPDF (fitz) extraction + LlamaIndex (512/64 sliding window).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Embeddings: BAAI/bge-base-en-v1.5 (768-dimensional bi-encoder).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Reranker: BAAI/bge-reranker-base (Cross-Encoder joint self-attention).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LLM Engine: Gemini 2.5 Flash (temp=0.0) for context-bound RAG synthesis.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643097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2. Architecture Workflow &amp; Module Pipelines</a:t>
            </a:r>
          </a:p>
          <a:p>
            <a:pPr>
              <a:spcAft>
                <a:spcPts val="500"/>
              </a:spcAft>
              <a:defRPr sz="1050" b="1">
                <a:solidFill>
                  <a:srgbClr val="334155"/>
                </a:solidFill>
              </a:defRPr>
            </a:pPr>
            <a:r>
              <a:t>1. User Query -&gt; FastAPI REST Backend (/api/search)</a:t>
            </a:r>
          </a:p>
          <a:p>
            <a:pPr>
              <a:spcAft>
                <a:spcPts val="500"/>
              </a:spcAft>
              <a:defRPr sz="1050" b="0">
                <a:solidFill>
                  <a:srgbClr val="334155"/>
                </a:solidFill>
              </a:defRPr>
            </a:pPr>
            <a:r>
              <a:t>2. Parallel Retrieval: BM25 Sparse Search + ChromaDB Vector Search (BGE-v1.5)</a:t>
            </a:r>
          </a:p>
          <a:p>
            <a:pPr>
              <a:spcAft>
                <a:spcPts val="500"/>
              </a:spcAft>
              <a:defRPr sz="1050" b="0">
                <a:solidFill>
                  <a:srgbClr val="2563EB"/>
                </a:solidFill>
              </a:defRPr>
            </a:pPr>
            <a:r>
              <a:t>3. Rank Fusion: Reciprocal Rank Fusion (S_RRF = sum 1 / (60 + rank))</a:t>
            </a:r>
          </a:p>
          <a:p>
            <a:pPr>
              <a:spcAft>
                <a:spcPts val="500"/>
              </a:spcAft>
              <a:defRPr sz="1050" b="1">
                <a:solidFill>
                  <a:srgbClr val="334155"/>
                </a:solidFill>
              </a:defRPr>
            </a:pPr>
            <a:r>
              <a:t>4. Reranking: BGE Cross-Encoder joint self-attention (Top 20 candidates -&gt; Top 5)</a:t>
            </a:r>
          </a:p>
          <a:p>
            <a:pPr>
              <a:spcAft>
                <a:spcPts val="500"/>
              </a:spcAft>
              <a:defRPr sz="1050" b="0">
                <a:solidFill>
                  <a:srgbClr val="334155"/>
                </a:solidFill>
              </a:defRPr>
            </a:pPr>
            <a:r>
              <a:t>5. Enhanced RAG: Strict Context Bounding Prompting (Forbids parametric memory)</a:t>
            </a:r>
          </a:p>
          <a:p>
            <a:pPr>
              <a:spcAft>
                <a:spcPts val="500"/>
              </a:spcAft>
              <a:defRPr sz="1050" b="0">
                <a:solidFill>
                  <a:srgbClr val="334155"/>
                </a:solidFill>
              </a:defRPr>
            </a:pPr>
            <a:r>
              <a:t>6. LLM Synthesis: Gemini 2.5 Flash generates draft response with inline citations</a:t>
            </a:r>
          </a:p>
          <a:p>
            <a:pPr>
              <a:spcAft>
                <a:spcPts val="500"/>
              </a:spcAft>
              <a:defRPr sz="1050" b="1">
                <a:solidFill>
                  <a:srgbClr val="2563EB"/>
                </a:solidFill>
              </a:defRPr>
            </a:pPr>
            <a:r>
              <a:t>7. Claim Verification: Stage A Regex Claim Extraction -&gt; Stage B Gemini NLI Check</a:t>
            </a:r>
          </a:p>
          <a:p>
            <a:pPr>
              <a:spcAft>
                <a:spcPts val="500"/>
              </a:spcAft>
              <a:defRPr sz="1050" b="0">
                <a:solidFill>
                  <a:srgbClr val="334155"/>
                </a:solidFill>
              </a:defRPr>
            </a:pPr>
            <a:r>
              <a:t>8. Citation Repair: Re-links invalid citation tags to entailing corpus chunks</a:t>
            </a:r>
          </a:p>
          <a:p>
            <a:pPr>
              <a:spcAft>
                <a:spcPts val="500"/>
              </a:spcAft>
              <a:defRPr sz="1050" b="0">
                <a:solidFill>
                  <a:srgbClr val="334155"/>
                </a:solidFill>
              </a:defRPr>
            </a:pPr>
            <a:r>
              <a:t>9. Output Render: Verified research answer + Interactive XAI Trace Modal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SLIDE 4: DATASET AND IMPLEMENTATION</a:t>
            </a:r>
          </a:p>
          <a:p>
            <a:pPr>
              <a:defRPr sz="1300">
                <a:solidFill>
                  <a:srgbClr val="2563EB"/>
                </a:solidFill>
                <a:latin typeface="Calibri"/>
              </a:defRPr>
            </a:pPr>
            <a:r>
              <a:t>Implementation Status (100% Core System Verified), Dataset Pipeline, and Demo 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Implementation Status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Core System Status: 100% Implemented, Tested &amp; Verified.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Backend Test Suite: 112 / 112 pytest cases passing cleanly (100%).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Frontend Validation: 8 / 8 UI layout assertions passing.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Platform Roadmap Progress: 92% complete.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Publication Scorecard: 143 / 170 Points (84.1% - SUBMISSION READY).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2. Dataset &amp; Preprocessing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Local Pre-Built KB: 670 full-text papers (14,850 semantic chunks).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Production Domains: Artificial Intelligence (300), Environmental Science (190), Interdisciplinary (180), Material Science (Active).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External Dynamic APIs (6): arXiv, PMC, AGRIS, NASA ADS, OpenAlex, Crossref.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Benchmark (ds_nexus_v10): 100 gold queries (70 DEV / 15 VAL / 15 FROZEN TEST).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- Pipeline: PyMuPDF extraction -&gt; Regex cleaning -&gt; 512/64 chunking -&gt; BGE embeddings -&gt; ChromaDB.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3. Demo Script Sequence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Step 1: Open Explorer, select domain Material Science, enter research query.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Step 2: Watch live execution stepper animate through RRF and BGE reranking.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Step 3: Click Inspect XAI Trace to expose BM25, vector distance, and rank deltas.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Step 4: Synthesize answer in AI Assistant using Phase 3.3 context bounding.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Step 5: Open Claim Verifier drawer to inspect Stage A/B NLI badges (VERIFIED, REPAIRED).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- Step 6: Show multi-paper comparison matrix and SQLite session resumption.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SLIDE 5: RESULTS, CHALLENGES AND NEXT STEPS</a:t>
            </a:r>
          </a:p>
          <a:p>
            <a:pPr>
              <a:defRPr sz="1300">
                <a:solidFill>
                  <a:srgbClr val="2563EB"/>
                </a:solidFill>
                <a:latin typeface="Calibri"/>
              </a:defRPr>
            </a:pPr>
            <a:r>
              <a:t>Empirical Benchmark Evaluation (E01-E05), Resolved Engineering Challenges, and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Canonical Empirical Benchmark Results (ds_nexus_v10 Frozen TEST Split N=15)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</a:defRPr>
            </a:pPr>
            <a:r>
              <a:t>- E01 (Retrieval): Hybrid RRF (k=60) MRR 0.812 vs 0.650 Dense Only (+0.162 gain, Wilcoxon p=0.0002).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</a:defRPr>
            </a:pPr>
            <a:r>
              <a:t>- E02 (Reranking): BGE Cross-Encoder TEST MRR 0.972 (+0.072 gain, p=0.0381, 0 rank regressions).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</a:defRPr>
            </a:pPr>
            <a:r>
              <a:t>- E03 (Enhanced RAG): Context Bounding Citation Precision 94.7% vs 73.3% Conv RAG (p=0.0120).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</a:defRPr>
            </a:pPr>
            <a:r>
              <a:t>- E04 (Claim Verifier): Citation Precision 98.0%, Unsupported Rate 1.0% (15 citations repaired, p=0.0080).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</a:defRPr>
            </a:pPr>
            <a:r>
              <a:t>- E05 (Refinement): Multi-cycle refinement achieved 99.2% Citation Precision (+753.3 ms P50 overhead).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517550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Resolved Engineering Challenges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- Bi-Encoder Keyword Misses: Vector search missed exact acronyms -&gt; Solved via RRF (k=60) sparse-dense fusion &amp; BGE reranking.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- Parametric Context Leakage: LLM inserted unverified outside facts -&gt; Solved via Phase 3.3 Enhanced RAG context bounding.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- Invalid Citation Tag Association: LLM attached decorative tags -&gt; Solved via Phase 3.4 NLI Claim Verification &amp; Citation Repair.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4114800"/>
            <a:ext cx="5175504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3. Future Roadmap &amp; Next Steps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- Immediate Fixes: Integrate OCR layer (Tesseract/Surya) for scanned PDFs; add local API caching.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- Short-Term Engineering: Scale local KB to 5,000+ papers; implement adaptive RRF k parameter tuning.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- Research Extensions: Expand frozen TEST split to N=100 items; conduct double-blind human evaluation trial.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SLIDE 6: RESEARCH &amp; PAPER PUBLICATION PROGRESS</a:t>
            </a:r>
          </a:p>
          <a:p>
            <a:pPr>
              <a:defRPr sz="1300">
                <a:solidFill>
                  <a:srgbClr val="2563EB"/>
                </a:solidFill>
                <a:latin typeface="Calibri"/>
              </a:defRPr>
            </a:pPr>
            <a:r>
              <a:t>Publication Readiness Parameters, Target Venues, Manuscript Status, and Defending Research Novelty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75504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Honest Publication Readiness Parameters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Target Venues: ACL/EMNLP System Demos, CIKM Applied Track, IEEE Access.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Final Paper Title: Title Under Finalization ('ResearchNexus: A Multi-Stage Verified Retrieval-Augmented Generation Architecture for Scientific Literature Synthesis').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Literature Survey: COMPLETED (28 formal academic references analyzed).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Research Gap: COMPLETED (Identified lack of verified RAG with post-hoc citation repair).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Methodology &amp; Architecture: COMPLETED (5-stage isolated pipeline locked).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Results &amp; Analysis: COMPLETED (E01-E05 benchmark tables &amp; Wilcoxon tests compiled).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Paper Writing Status: NEAR COMPLETE (IEEEtran &amp; LNCS drafts compiled; Score 143/170).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- Publication Status: READY FOR INTERNAL REVIEW (Ready for advisor sign-off prior to submission).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1463040"/>
            <a:ext cx="5175504" cy="48463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2. Defending Research Novelty vs Software Engineering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</a:defRPr>
            </a:pPr>
            <a:r>
              <a:t>- What is NOT the contribution: Calling pre-trained APIs like Gemini 2.5 Flash or BGE embeddings is software integration, not primary research novelty.</a:t>
            </a:r>
          </a:p>
          <a:p>
            <a:pPr>
              <a:spcAft>
                <a:spcPts val="500"/>
              </a:spcAft>
              <a:defRPr sz="1000" b="1">
                <a:solidFill>
                  <a:srgbClr val="334155"/>
                </a:solidFill>
              </a:defRPr>
            </a:pPr>
            <a:r>
              <a:t>- What IS the Research Contribution: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</a:defRPr>
            </a:pPr>
            <a:r>
              <a:t>-   1. Phase 3.4 Stage A/B Claim Verification &amp; Citation Repair Algorithm: Automated 2-stage NLI entailment workflow that detects hallucinated references and re-links claims to entailing corpus chunks.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</a:defRPr>
            </a:pPr>
            <a:r>
              <a:t>-   2. Phase 3.3 Enhanced RAG Context Bounding: Deterministic prompt boundary design eliminating parametric memory context leakage.</a:t>
            </a:r>
          </a:p>
          <a:p>
            <a:pPr>
              <a:spcAft>
                <a:spcPts val="500"/>
              </a:spcAft>
              <a:defRPr sz="1000" b="0">
                <a:solidFill>
                  <a:srgbClr val="334155"/>
                </a:solidFill>
              </a:defRPr>
            </a:pPr>
            <a:r>
              <a:t>-   3. Empirical Benchmark Protocol (ds_nexus_v10): Statistically proving (p &lt; 0.05) across 5 isolated stages that unsupported claim rates can be reduced from 18.0% to 1.0% without model fine-tuning.</a:t>
            </a:r>
          </a:p>
          <a:p>
            <a:pPr>
              <a:spcAft>
                <a:spcPts val="500"/>
              </a:spcAft>
              <a:defRPr sz="1000" b="1">
                <a:solidFill>
                  <a:srgbClr val="334155"/>
                </a:solidFill>
              </a:defRPr>
            </a:pPr>
            <a:r>
              <a:t>Summary Defense Statement: ResearchNexus proves that combining hybrid RRF retrieval, cross-encoder reranking, and post-hoc NLI claim verification reduces scientific RAG citation hallucinations to 1.0% with 99.2% citation precision, offering an auditable framework for scientific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