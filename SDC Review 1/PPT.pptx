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1"/>
      <p:bold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1915D-8D88-4D8E-9AFC-923AF8C63566}" v="14" dt="2026-09-16T14:35:52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706" autoAdjust="0"/>
  </p:normalViewPr>
  <p:slideViewPr>
    <p:cSldViewPr>
      <p:cViewPr varScale="1">
        <p:scale>
          <a:sx n="30" d="100"/>
          <a:sy n="30" d="100"/>
        </p:scale>
        <p:origin x="43" y="10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6495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724" y="4249160"/>
            <a:ext cx="12950561" cy="3033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dirty="0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G-1257 </a:t>
            </a:r>
            <a:r>
              <a:rPr lang="en-US" sz="4200" b="1" dirty="0" err="1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ResearchNexus</a:t>
            </a:r>
            <a:r>
              <a:rPr lang="en-US" sz="4200" b="1" dirty="0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: A Multi-Stage Verified Retrieval-Augmented Generation Architecture for Scientific Literature Synthesis</a:t>
            </a:r>
          </a:p>
          <a:p>
            <a:pPr algn="ctr">
              <a:lnSpc>
                <a:spcPts val="5040"/>
              </a:lnSpc>
            </a:pPr>
            <a:endParaRPr lang="en-US" sz="4200" b="1" dirty="0">
              <a:solidFill>
                <a:srgbClr val="31859C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3600"/>
              </a:lnSpc>
            </a:pPr>
            <a:endParaRPr lang="en-US" sz="4200" b="1" dirty="0">
              <a:solidFill>
                <a:srgbClr val="31859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070212" y="6684493"/>
            <a:ext cx="7259650" cy="3422638"/>
            <a:chOff x="0" y="0"/>
            <a:chExt cx="9679534" cy="456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79559" cy="4563568"/>
            </a:xfrm>
            <a:custGeom>
              <a:avLst/>
              <a:gdLst/>
              <a:ahLst/>
              <a:cxnLst/>
              <a:rect l="l" t="t" r="r" b="b"/>
              <a:pathLst>
                <a:path w="9679559" h="4563568">
                  <a:moveTo>
                    <a:pt x="0" y="0"/>
                  </a:moveTo>
                  <a:lnTo>
                    <a:pt x="9679559" y="0"/>
                  </a:lnTo>
                  <a:lnTo>
                    <a:pt x="9679559" y="4563568"/>
                  </a:lnTo>
                  <a:lnTo>
                    <a:pt x="0" y="45635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260" r="-10259" b="3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679534" cy="45920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Members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 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Abyuday</a:t>
              </a: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Reddy - 24BD1A05BH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 Nitish Reddy - 24BD1A05AY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 Roshini - 24BD1A05BN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 Akshaya - 24BD1A05BF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Pranadheer - 25BD5A0538</a:t>
              </a:r>
            </a:p>
            <a:p>
              <a:pPr algn="l">
                <a:lnSpc>
                  <a:spcPts val="360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542575" y="6663062"/>
            <a:ext cx="6915150" cy="3444069"/>
            <a:chOff x="0" y="-28575"/>
            <a:chExt cx="9220200" cy="4592092"/>
          </a:xfrm>
        </p:grpSpPr>
        <p:sp>
          <p:nvSpPr>
            <p:cNvPr id="8" name="Freeform 8"/>
            <p:cNvSpPr/>
            <p:nvPr/>
          </p:nvSpPr>
          <p:spPr>
            <a:xfrm>
              <a:off x="0" y="17295"/>
              <a:ext cx="9220200" cy="4546222"/>
            </a:xfrm>
            <a:custGeom>
              <a:avLst/>
              <a:gdLst/>
              <a:ahLst/>
              <a:cxnLst/>
              <a:rect l="l" t="t" r="r" b="b"/>
              <a:pathLst>
                <a:path w="9220200" h="4546223">
                  <a:moveTo>
                    <a:pt x="0" y="0"/>
                  </a:moveTo>
                  <a:lnTo>
                    <a:pt x="9220200" y="0"/>
                  </a:lnTo>
                  <a:lnTo>
                    <a:pt x="9220200" y="4546223"/>
                  </a:lnTo>
                  <a:lnTo>
                    <a:pt x="0" y="4546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62" r="-13262" b="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220200" cy="457474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Mentor</a:t>
              </a:r>
            </a:p>
            <a:p>
              <a:pPr algn="ctr">
                <a:lnSpc>
                  <a:spcPts val="3600"/>
                </a:lnSpc>
              </a:pPr>
              <a:endParaRPr lang="en-US" sz="3000" b="1" u="sng" dirty="0">
                <a:solidFill>
                  <a:srgbClr val="000000"/>
                </a:solidFill>
                <a:latin typeface="Times New Roman Bold"/>
                <a:ea typeface="Times New Roman"/>
                <a:cs typeface="Times New Roman Bold"/>
                <a:sym typeface="Times New Roman Bold"/>
              </a:endParaRPr>
            </a:p>
            <a:p>
              <a:pPr algn="ctr">
                <a:lnSpc>
                  <a:spcPts val="3600"/>
                </a:lnSpc>
              </a:pPr>
              <a:endParaRPr lang="en-US" sz="3000" b="1" u="sng" dirty="0">
                <a:solidFill>
                  <a:srgbClr val="000000"/>
                </a:solidFill>
                <a:latin typeface="Times New Roman Bold"/>
                <a:ea typeface="Times New Roman"/>
                <a:cs typeface="Times New Roman Bold"/>
                <a:sym typeface="Times New Roman Bold"/>
              </a:endParaRPr>
            </a:p>
            <a:p>
              <a:pPr algn="ctr">
                <a:lnSpc>
                  <a:spcPts val="3600"/>
                </a:lnSpc>
              </a:pPr>
              <a:r>
                <a:rPr lang="en-US" sz="3000" dirty="0" err="1">
                  <a:solidFill>
                    <a:srgbClr val="000000"/>
                  </a:solidFill>
                  <a:latin typeface="Times New Roman Bold"/>
                  <a:ea typeface="Times New Roman"/>
                  <a:cs typeface="Times New Roman Bold"/>
                  <a:sym typeface="Times New Roman Bold"/>
                </a:rPr>
                <a:t>B.Madhurika</a:t>
              </a:r>
              <a:r>
                <a:rPr lang="en-US" sz="3000" dirty="0">
                  <a:solidFill>
                    <a:srgbClr val="000000"/>
                  </a:solidFill>
                  <a:latin typeface="Times New Roman Bold"/>
                  <a:ea typeface="Times New Roman"/>
                  <a:cs typeface="Times New Roman Bold"/>
                  <a:sym typeface="Times New Roman Bold"/>
                </a:rPr>
                <a:t> mam</a:t>
              </a: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360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415858" y="283212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BASE PAPER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Smart Reader Who Forgets Where They Read It"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Base Paper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OpenScholar (UW / AI2, 2024)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Big Idea: </a:t>
            </a:r>
            <a:r>
              <a:rPr b="0" sz="1300">
                <a:solidFill>
                  <a:srgbClr val="1E293B"/>
                </a:solidFill>
                <a:latin typeface="Segoe UI"/>
              </a:rPr>
              <a:t>An AI made to read scientific papers and answer hard research questions.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Existing Way: </a:t>
            </a:r>
            <a:r>
              <a:rPr b="0" sz="1300">
                <a:solidFill>
                  <a:srgbClr val="1E293B"/>
                </a:solidFill>
                <a:latin typeface="Segoe UI"/>
              </a:rPr>
              <a:t>Vanilla AI answers from memory—often guessing fake authors and dates.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How Base Paper Works: </a:t>
            </a:r>
            <a:r>
              <a:rPr b="0" sz="1300">
                <a:solidFill>
                  <a:srgbClr val="1E293B"/>
                </a:solidFill>
                <a:latin typeface="Segoe UI"/>
              </a:rPr>
              <a:t>Searches open papers first, then writes an answer with bracketed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Key Findings: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Reached ~75% citation accuracy, proving open-source AI can assist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Where It Fails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The 3 Critical Gaps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Blind to Formulas: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Dense AI vectors miss exact chemical names like Li10GeP2S12 or MAPbI3.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No Fact-Checker: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Generates answers in one shot without verifying if citations are actually true.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Black-Box Answers: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Gives numbers without showing which sentence or table proved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Real Harm: </a:t>
            </a:r>
            <a:r>
              <a:rPr b="0" sz="1300">
                <a:solidFill>
                  <a:srgbClr val="1E293B"/>
                </a:solidFill>
                <a:latin typeface="Segoe UI"/>
              </a:rPr>
              <a:t>In a science lab, a guessed temperature or formula ruins expensive tests!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Our Breakthrough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What ResearchMind Solves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Exact Keyword + Meaning: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Fuses BM25 (word matches) + BGE (concepts) so zero formulas are lost.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Auto Fact-Checker (Phase 3.4): </a:t>
            </a:r>
            <a:r>
              <a:rPr b="0" sz="1300">
                <a:solidFill>
                  <a:srgbClr val="1E293B"/>
                </a:solidFill>
                <a:latin typeface="Segoe UI"/>
              </a:rPr>
              <a:t>Breaks text into small claims and tests if the paper proves it. If not, it fixes it!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Visual Heatmap (XAI):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Colors the source paper in gold so humans see the exact proof in 1 click.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Result: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jumps from 82% to 98%, hallucinations drop to 1%!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8" y="431883"/>
            <a:ext cx="15456284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IN" sz="3600" b="1" dirty="0">
                <a:solidFill>
                  <a:srgbClr val="FF0000"/>
                </a:solidFill>
              </a:rPr>
              <a:t>Project Objectives &amp; System Requirements</a:t>
            </a:r>
            <a:endParaRPr lang="en-IN" sz="3600" dirty="0">
              <a:solidFill>
                <a:srgbClr val="FF0000"/>
              </a:solidFill>
            </a:endParaRPr>
          </a:p>
          <a:p>
            <a:pPr algn="l">
              <a:lnSpc>
                <a:spcPts val="4320"/>
              </a:lnSpc>
            </a:pPr>
            <a:endParaRPr lang="en-US" sz="3600" b="1" dirty="0">
              <a:solidFill>
                <a:srgbClr val="FF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"Building an Honest, Transparent Assistant for Scientists"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Vision &amp; Goal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What We Built &amp; Why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Project: </a:t>
            </a:r>
            <a:r>
              <a:rPr b="0" sz="1300">
                <a:solidFill>
                  <a:srgbClr val="1E293B"/>
                </a:solidFill>
                <a:latin typeface="Segoe UI"/>
              </a:rPr>
              <a:t>An Explainable Scientific Research OS for Material Science literature.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Core Objective: </a:t>
            </a:r>
            <a:r>
              <a:rPr b="0" sz="1300">
                <a:solidFill>
                  <a:srgbClr val="1E293B"/>
                </a:solidFill>
                <a:latin typeface="Segoe UI"/>
              </a:rPr>
              <a:t>Make literature search 10x faster with 0% unverified statements.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High Accuracy Target: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Retrieve the right paper &gt;95% of the time (MRR @ 0.972).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Zero Guessing: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Every single number must point to its exact source chunk.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Who Uses It?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3 Key Stakeholders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Professors &amp; Postdocs: </a:t>
            </a:r>
            <a:r>
              <a:rPr b="0" sz="1300">
                <a:solidFill>
                  <a:srgbClr val="1E293B"/>
                </a:solidFill>
                <a:latin typeface="Segoe UI"/>
              </a:rPr>
              <a:t>Instantly compare synthesis recipes across 50 papers without opening each PDF.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B.Tech &amp; Ph.D. Students: </a:t>
            </a:r>
            <a:r>
              <a:rPr b="0" sz="1300">
                <a:solidFill>
                  <a:srgbClr val="1E293B"/>
                </a:solidFill>
                <a:latin typeface="Segoe UI"/>
              </a:rPr>
              <a:t>Write accurate literature reviews with auto-generated LaTeX tables &amp; BibTeX.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R&amp;D Battery / Solar Labs: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Verify experimental numbers before running costly physical experiments.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Journal Reviewers: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Audit whether submitted paper claims are actually backed by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System Requirements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Key Specs &amp; Use Cases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Speed: </a:t>
            </a:r>
            <a:r>
              <a:rPr b="0" sz="1300">
                <a:solidFill>
                  <a:srgbClr val="1E293B"/>
                </a:solidFill>
                <a:latin typeface="Segoe UI"/>
              </a:rPr>
              <a:t>Search over 14,800 chunks in under 650 ms; full verified synthesis in 3.2 sec.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Precision: </a:t>
            </a:r>
            <a:r>
              <a:rPr b="0" sz="1300">
                <a:solidFill>
                  <a:srgbClr val="1E293B"/>
                </a:solidFill>
                <a:latin typeface="Segoe UI"/>
              </a:rPr>
              <a:t>&gt;95% verified citations; &lt;2% unsupported claims.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Multi-Paper Matrix: </a:t>
            </a:r>
            <a:r>
              <a:rPr b="0" sz="1300">
                <a:solidFill>
                  <a:srgbClr val="1E293B"/>
                </a:solidFill>
                <a:latin typeface="Segoe UI"/>
              </a:rPr>
              <a:t>Extract ionic conductivity, stability, and limits into side-by-side tables.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LaTeX Export: </a:t>
            </a:r>
            <a:r>
              <a:rPr b="0" sz="1300">
                <a:solidFill>
                  <a:srgbClr val="1E293B"/>
                </a:solidFill>
                <a:latin typeface="Segoe UI"/>
              </a:rPr>
              <a:t>One-click export to IEEEtran &amp; Springer LNCS manuscripts.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5858" y="297481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04672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4-Step Factory: Read -&gt; Find -&gt; Check -&gt; Show"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1: The Reader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Document Ingestion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What It Does: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Reads 670 scientific PDFs and cleans layout noise.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PyMuPDF (fitz): </a:t>
            </a:r>
            <a:r>
              <a:rPr b="0" sz="1300">
                <a:solidFill>
                  <a:srgbClr val="1E293B"/>
                </a:solidFill>
                <a:latin typeface="Segoe UI"/>
              </a:rPr>
              <a:t>Strips page numbers, headers, and fixes two-column text.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LlamaIndex: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Chops papers into 14,850 bite-sized chunks (512 tokens each).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Storage: </a:t>
            </a:r>
            <a:r>
              <a:rPr b="0" sz="1300">
                <a:solidFill>
                  <a:srgbClr val="1E293B"/>
                </a:solidFill>
                <a:latin typeface="Segoe UI"/>
              </a:rPr>
              <a:t>Saves chunks into ChromaDB (vector) + PostgreSQL (data).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2: The Detective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Hybrid Search &amp; Reranking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Dual Searching: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BM25 searches exact formula words; BGE finds conceptual meaning.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RRF Fusion (k=60):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Combines both search scores fairly without bias.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BGE Cross-Encoder: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Deep re-reading of top 20 chunks to pick the 5 best evidence passages.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Lift: </a:t>
            </a:r>
            <a:r>
              <a:rPr b="0" sz="1300">
                <a:solidFill>
                  <a:srgbClr val="1E293B"/>
                </a:solidFill>
                <a:latin typeface="Segoe UI"/>
              </a:rPr>
              <a:t>Pushes search rank (MRR) from 0.81 to an outstanding 0.972!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3: The Writer &amp; Inspector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Gemini + Phase 3.4 Verification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Gemini 2.5 Flash: </a:t>
            </a:r>
            <a:r>
              <a:rPr b="0" sz="1300">
                <a:solidFill>
                  <a:srgbClr val="1E293B"/>
                </a:solidFill>
                <a:latin typeface="Segoe UI"/>
              </a:rPr>
              <a:t>Writes a structured synthesis strictly using the top 5 chunks.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Claim Slicer: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Splits the answer into sentence-level atomic claims.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NLI Inspector: </a:t>
            </a:r>
            <a:r>
              <a:rPr b="0" sz="1300">
                <a:solidFill>
                  <a:srgbClr val="1E293B"/>
                </a:solidFill>
                <a:latin typeface="Segoe UI"/>
              </a:rPr>
              <a:t>Tests if each claim is Entailed (proved) or Neutral (guessing).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Auto-Repair Loop: </a:t>
            </a:r>
            <a:r>
              <a:rPr b="0" sz="1300">
                <a:solidFill>
                  <a:srgbClr val="1E293B"/>
                </a:solidFill>
                <a:latin typeface="Segoe UI"/>
              </a:rPr>
              <a:t>Surgically rewrites or cuts unproven claims automatically!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16736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4: The Presentation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Interactive Frontend &amp; XAI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React 18 + Vite: </a:t>
            </a:r>
            <a:r>
              <a:rPr b="0" sz="1300">
                <a:solidFill>
                  <a:srgbClr val="1E293B"/>
                </a:solidFill>
                <a:latin typeface="Segoe UI"/>
              </a:rPr>
              <a:t>Fast, modern user interface with 14 modular tabs.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XAI Heatmaps: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Visual color highlights on source text so students can verify proof.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Matrix Builder: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Auto-builds side-by-side comparison tables across papers.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LaTeX Compiler: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Exports ready-to-compile IEEE manuscripts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3" y="408908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DATASET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"Our Cleaned Library &amp; 14 Working Tools"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Curated Library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Material Science Corpus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670 Peer-Reviewed Papers: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Real research from Nature Materials, Advanced Energy Materials, arXiv.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Key Sub-Fields: </a:t>
            </a:r>
            <a:r>
              <a:rPr b="0" sz="1300">
                <a:solidFill>
                  <a:srgbClr val="1E293B"/>
                </a:solidFill>
                <a:latin typeface="Segoe UI"/>
              </a:rPr>
              <a:t>Perovskite solar cells, solid-state batteries (Li10GeP2S12), 2D MXenes, MOFs.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14,850 Cleaned Chunks: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Chunked at 512 tokens with 64-token overlap so no sentences get cut.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Frozen Benchmark: </a:t>
            </a:r>
            <a:r>
              <a:rPr b="0" sz="1300">
                <a:solidFill>
                  <a:srgbClr val="1E293B"/>
                </a:solidFill>
                <a:latin typeface="Segoe UI"/>
              </a:rPr>
              <a:t>ds_nexus_v10 suite (15 gold-standard test queries with human-labeled answers).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Tech Stack at Work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Tools &amp; Frameworks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Frontend: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React 18, TypeScript, Tailwind CSS, Lucide icons, Vite.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Backend API: </a:t>
            </a:r>
            <a:r>
              <a:rPr b="0" sz="1300">
                <a:solidFill>
                  <a:srgbClr val="1E293B"/>
                </a:solidFill>
                <a:latin typeface="Segoe UI"/>
              </a:rPr>
              <a:t>FastAPI (Python 3.11 asynchronous ASGI engine).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AI Models: </a:t>
            </a:r>
            <a:r>
              <a:rPr b="0" sz="1300">
                <a:solidFill>
                  <a:srgbClr val="1E293B"/>
                </a:solidFill>
                <a:latin typeface="Segoe UI"/>
              </a:rPr>
              <a:t>BAAI/bge-base-en-v1.5, BGE-Reranker-base, Google Gemini 2.5 Flash.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Databases: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ChromaDB (vector similarity) + PostgreSQL (sessions &amp; audit logs).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Implementation Status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14 Implemented Modules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Paper Explorer &amp; Navigator: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(browse &amp; filter 670 papers)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Hybrid Search + Reranker: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(fuses BM25 + dense vectors)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Phase 3.4 Claim Verifier: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(NLI entailment + auto-repair)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XAI Attribution Heatmaps: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(token visual evidence)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Comparison Matrix &amp; LaTeX: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(table synthesis &amp; IEEE export)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Current System Progress: </a:t>
            </a:r>
            <a:r>
              <a:rPr b="0" sz="1300">
                <a:solidFill>
                  <a:srgbClr val="1E293B"/>
                </a:solidFill>
                <a:latin typeface="Segoe UI"/>
              </a:rPr>
              <a:t>98.5% Functional — 100% Ready for Live Demo!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3" y="408908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RESULTS, CHALLENGES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Proof in Numbers &amp; What We Conquered"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Benchmark Proof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ds_nexus_v10 (N=15 Frozen Test)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E01: Hybrid Baseline: </a:t>
            </a:r>
            <a:r>
              <a:rPr b="0" sz="1300">
                <a:solidFill>
                  <a:srgbClr val="1E293B"/>
                </a:solidFill>
                <a:latin typeface="Segoe UI"/>
              </a:rPr>
              <a:t>MRR 0.812 | Precision 82.4% | Unsupported 16.8%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E02: + Cross-Encoder: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MRR 0.972 (+20%) | Hit Rate 100% | Precision 88.6%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E03: + Strict Grounding: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94.7% | Unsupported 4.6%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E04: + Phase 3.4 Verify: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98.0% | Unsupported ONLY 1.0%!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E05: + Iterative Loop: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99.2% | Unsupported 0.5%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Hurdles We Solved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Engineering Challenges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Missing Chemical Names: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Vectors mixed up similar formulas -&gt; Fixed by adding BM25 exact match.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Slow Reranking Speed: </a:t>
            </a:r>
            <a:r>
              <a:rPr b="0" sz="1300">
                <a:solidFill>
                  <a:srgbClr val="1E293B"/>
                </a:solidFill>
                <a:latin typeface="Segoe UI"/>
              </a:rPr>
              <a:t>Cross-encoders took 4.5s -&gt; Fixed by funneling only top-20 chunks (480ms).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Made-Up Citations: </a:t>
            </a:r>
            <a:r>
              <a:rPr b="0" sz="1300">
                <a:solidFill>
                  <a:srgbClr val="1E293B"/>
                </a:solidFill>
                <a:latin typeface="Segoe UI"/>
              </a:rPr>
              <a:t>LLMs cited non-existent chunk IDs -&gt; Fixed by schema validators cutting fake IDs.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Messy PDF Columns: </a:t>
            </a:r>
            <a:r>
              <a:rPr b="0" sz="1300">
                <a:solidFill>
                  <a:srgbClr val="1E293B"/>
                </a:solidFill>
                <a:latin typeface="Segoe UI"/>
              </a:rPr>
              <a:t>Multi-column text mixed sentences -&gt; Fixed by PyMuPDF box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What's Next?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Future Roadmap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Knowledge Graphs: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Connect materials, temperatures, and properties via Neo4j Graph RAG.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XRD Chart Reader: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 2D diffraction curves and lab graphs using multimodal vision AI.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Local Offline AI: </a:t>
            </a:r>
            <a:r>
              <a:rPr b="0" sz="1300">
                <a:solidFill>
                  <a:srgbClr val="1E293B"/>
                </a:solidFill>
                <a:latin typeface="Segoe UI"/>
              </a:rPr>
              <a:t>Run 100% on private local GPUs (Llama 3 8B) for proprietary industry labs.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415853" y="418433"/>
            <a:ext cx="154562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RESEARCH &amp; PAPER PUBLICATION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"Our Scientific Contribution &amp; Manuscript Readiness"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Target Venues &amp; Title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Where We Are Submitting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Paper Final Title: </a:t>
            </a:r>
            <a:r>
              <a:rPr b="0" sz="1300">
                <a:solidFill>
                  <a:srgbClr val="1E293B"/>
                </a:solidFill>
                <a:latin typeface="Segoe UI"/>
              </a:rPr>
              <a:t>"ResearchMind: An Explainable, Attributed, and Self-Refining Scientific Research Operating System for Material Science Literature"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Target Conference: </a:t>
            </a:r>
            <a:r>
              <a:rPr b="0" sz="1300">
                <a:solidFill>
                  <a:srgbClr val="1E293B"/>
                </a:solidFill>
                <a:latin typeface="Segoe UI"/>
              </a:rPr>
              <a:t>IEEE International Conference on Big Data / IEEE ICDM / Springer LNCS.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Domain Track: </a:t>
            </a:r>
            <a:r>
              <a:rPr b="0" sz="1300">
                <a:solidFill>
                  <a:srgbClr val="1E293B"/>
                </a:solidFill>
                <a:latin typeface="Segoe UI"/>
              </a:rPr>
              <a:t>Applied AI, Natural Language Processing, and Information Retrieval.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3 Core Contributions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What Science Gains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1. Hybrid Scientific RRF: </a:t>
            </a:r>
            <a:r>
              <a:rPr b="0" sz="1300">
                <a:solidFill>
                  <a:srgbClr val="1E293B"/>
                </a:solidFill>
                <a:latin typeface="Segoe UI"/>
              </a:rPr>
              <a:t>Proved BM25 + Dense RRF boosts chemical formula retrieval MRR to 0.972.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2. Phase 3.4 Auto-Repair: </a:t>
            </a:r>
            <a:r>
              <a:rPr b="0" sz="1300">
                <a:solidFill>
                  <a:srgbClr val="1E293B"/>
                </a:solidFill>
                <a:latin typeface="Segoe UI"/>
              </a:rPr>
              <a:t>First post-gen claim-level NLI repair reducing scientific RAG errors to 1.0%.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3. Transparent Research OS: </a:t>
            </a:r>
            <a:r>
              <a:rPr b="0" sz="1300">
                <a:solidFill>
                  <a:srgbClr val="1E293B"/>
                </a:solidFill>
                <a:latin typeface="Segoe UI"/>
              </a:rPr>
              <a:t>End-to-end open architecture with interactive token XAI heatmaps and LaTeX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Writing &amp; Audit Status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Publication Readiness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Sections Completed: </a:t>
            </a:r>
            <a:r>
              <a:rPr b="0" sz="1300">
                <a:solidFill>
                  <a:srgbClr val="1E293B"/>
                </a:solidFill>
                <a:latin typeface="Segoe UI"/>
              </a:rPr>
              <a:t>Abstract, Intro, Related Work, Architecture, Math, Benchmark, Results (98% Done).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LaTeX Compilations: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Compiled in IEEEtran and Springer LNCS formats with 42 verified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Audit Readiness Score: </a:t>
            </a:r>
            <a:r>
              <a:rPr b="0" sz="1300">
                <a:solidFill>
                  <a:srgbClr val="1E293B"/>
                </a:solidFill>
                <a:latin typeface="Segoe UI"/>
              </a:rPr>
              <a:t>143 / 170 Points (84.1% Submission Ready).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Current Status: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Ready for Internal Review (Awaiting final mentor sign-off before upload).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45309" y="4098817"/>
            <a:ext cx="4197391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77</Words>
  <Application>Microsoft Office PowerPoint</Application>
  <PresentationFormat>Custom</PresentationFormat>
  <Paragraphs>37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Bold</vt:lpstr>
      <vt:lpstr>Times New Roman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SDC 2_REVIEW.pptx</dc:title>
  <dc:creator>Pranadheer Molumuri</dc:creator>
  <cp:lastModifiedBy>NitishReddy kuppyreddy</cp:lastModifiedBy>
  <cp:revision>4</cp:revision>
  <dcterms:created xsi:type="dcterms:W3CDTF">2006-08-16T00:00:00Z</dcterms:created>
  <dcterms:modified xsi:type="dcterms:W3CDTF">2026-09-16T17:47:33Z</dcterms:modified>
  <dc:identifier>DAHVQXb0VQQ</dc:identifier>
</cp:coreProperties>
</file>