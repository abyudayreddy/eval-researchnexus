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al Bold" panose="020B0704020202020204" pitchFamily="34" charset="0"/>
      <p:regular r:id="rId11"/>
      <p:bold r:id="rId12"/>
    </p:embeddedFont>
    <p:embeddedFont>
      <p:font typeface="Times New Roman Bold" panose="02020803070505020304" pitchFamily="18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D1915D-8D88-4D8E-9AFC-923AF8C63566}" v="14" dt="2026-09-16T14:35:52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5706" autoAdjust="0"/>
  </p:normalViewPr>
  <p:slideViewPr>
    <p:cSldViewPr>
      <p:cViewPr varScale="1">
        <p:scale>
          <a:sx n="61" d="100"/>
          <a:sy n="61" d="100"/>
        </p:scale>
        <p:origin x="10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76495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724" y="4249160"/>
            <a:ext cx="12950561" cy="3033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 dirty="0">
                <a:solidFill>
                  <a:srgbClr val="31859C"/>
                </a:solidFill>
                <a:latin typeface="Arial Bold"/>
                <a:ea typeface="Arial Bold"/>
                <a:cs typeface="Arial Bold"/>
                <a:sym typeface="Arial Bold"/>
              </a:rPr>
              <a:t>G-1257 </a:t>
            </a:r>
            <a:r>
              <a:rPr lang="en-US" sz="4200" b="1" dirty="0" err="1">
                <a:solidFill>
                  <a:srgbClr val="31859C"/>
                </a:solidFill>
                <a:latin typeface="Arial Bold"/>
                <a:ea typeface="Arial Bold"/>
                <a:cs typeface="Arial Bold"/>
                <a:sym typeface="Arial Bold"/>
              </a:rPr>
              <a:t>ResearchNexus</a:t>
            </a:r>
            <a:r>
              <a:rPr lang="en-US" sz="4200" b="1" dirty="0">
                <a:solidFill>
                  <a:srgbClr val="31859C"/>
                </a:solidFill>
                <a:latin typeface="Arial Bold"/>
                <a:ea typeface="Arial Bold"/>
                <a:cs typeface="Arial Bold"/>
                <a:sym typeface="Arial Bold"/>
              </a:rPr>
              <a:t>: A Multi-Stage Verified Retrieval-Augmented Generation Architecture for Scientific Literature Synthesis</a:t>
            </a:r>
          </a:p>
          <a:p>
            <a:pPr algn="ctr">
              <a:lnSpc>
                <a:spcPts val="5040"/>
              </a:lnSpc>
            </a:pPr>
            <a:endParaRPr lang="en-US" sz="4200" b="1" dirty="0">
              <a:solidFill>
                <a:srgbClr val="31859C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3600"/>
              </a:lnSpc>
            </a:pPr>
            <a:endParaRPr lang="en-US" sz="4200" b="1" dirty="0">
              <a:solidFill>
                <a:srgbClr val="31859C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070212" y="6684493"/>
            <a:ext cx="7259650" cy="3422638"/>
            <a:chOff x="0" y="0"/>
            <a:chExt cx="9679534" cy="4563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679559" cy="4563568"/>
            </a:xfrm>
            <a:custGeom>
              <a:avLst/>
              <a:gdLst/>
              <a:ahLst/>
              <a:cxnLst/>
              <a:rect l="l" t="t" r="r" b="b"/>
              <a:pathLst>
                <a:path w="9679559" h="4563568">
                  <a:moveTo>
                    <a:pt x="0" y="0"/>
                  </a:moveTo>
                  <a:lnTo>
                    <a:pt x="9679559" y="0"/>
                  </a:lnTo>
                  <a:lnTo>
                    <a:pt x="9679559" y="4563568"/>
                  </a:lnTo>
                  <a:lnTo>
                    <a:pt x="0" y="45635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260" r="-10259" b="38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9679534" cy="459209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600"/>
                </a:lnSpc>
              </a:pPr>
              <a:r>
                <a:rPr lang="en-US" sz="3000" b="1" u="sng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Team Members</a:t>
              </a:r>
            </a:p>
            <a:p>
              <a:pPr marL="542925" lvl="1" indent="-271462" algn="l">
                <a:lnSpc>
                  <a:spcPts val="3600"/>
                </a:lnSpc>
                <a:buAutoNum type="arabicPeriod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 </a:t>
              </a:r>
              <a:r>
                <a:rPr lang="en-US" sz="30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Abyuday</a:t>
              </a: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Reddy - 24BD1A05BH</a:t>
              </a:r>
            </a:p>
            <a:p>
              <a:pPr marL="542925" lvl="1" indent="-271462" algn="l">
                <a:lnSpc>
                  <a:spcPts val="3600"/>
                </a:lnSpc>
                <a:buAutoNum type="arabicPeriod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 Nitish Reddy - 24BD1A05AY</a:t>
              </a:r>
            </a:p>
            <a:p>
              <a:pPr marL="542925" lvl="1" indent="-271462" algn="l">
                <a:lnSpc>
                  <a:spcPts val="3600"/>
                </a:lnSpc>
                <a:buAutoNum type="arabicPeriod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 Roshini - 24BD1A05BN</a:t>
              </a:r>
            </a:p>
            <a:p>
              <a:pPr marL="542925" lvl="1" indent="-271462" algn="l">
                <a:lnSpc>
                  <a:spcPts val="3600"/>
                </a:lnSpc>
                <a:buAutoNum type="arabicPeriod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 Akshaya - 24BD1A05BF</a:t>
              </a:r>
            </a:p>
            <a:p>
              <a:pPr marL="542925" lvl="1" indent="-271462" algn="l">
                <a:lnSpc>
                  <a:spcPts val="3600"/>
                </a:lnSpc>
                <a:buAutoNum type="arabicPeriod"/>
              </a:pPr>
              <a:r>
                <a:rPr lang="en-US" sz="30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 Pranadheer - 25BD5A0538</a:t>
              </a:r>
            </a:p>
            <a:p>
              <a:pPr algn="l">
                <a:lnSpc>
                  <a:spcPts val="3600"/>
                </a:lnSpc>
              </a:pP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542575" y="6663062"/>
            <a:ext cx="6915150" cy="3444069"/>
            <a:chOff x="0" y="-28575"/>
            <a:chExt cx="9220200" cy="4592092"/>
          </a:xfrm>
        </p:grpSpPr>
        <p:sp>
          <p:nvSpPr>
            <p:cNvPr id="8" name="Freeform 8"/>
            <p:cNvSpPr/>
            <p:nvPr/>
          </p:nvSpPr>
          <p:spPr>
            <a:xfrm>
              <a:off x="0" y="17295"/>
              <a:ext cx="9220200" cy="4546222"/>
            </a:xfrm>
            <a:custGeom>
              <a:avLst/>
              <a:gdLst/>
              <a:ahLst/>
              <a:cxnLst/>
              <a:rect l="l" t="t" r="r" b="b"/>
              <a:pathLst>
                <a:path w="9220200" h="4546223">
                  <a:moveTo>
                    <a:pt x="0" y="0"/>
                  </a:moveTo>
                  <a:lnTo>
                    <a:pt x="9220200" y="0"/>
                  </a:lnTo>
                  <a:lnTo>
                    <a:pt x="9220200" y="4546223"/>
                  </a:lnTo>
                  <a:lnTo>
                    <a:pt x="0" y="45462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62" r="-13262" b="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9220200" cy="4574747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3600"/>
                </a:lnSpc>
              </a:pPr>
              <a:r>
                <a:rPr lang="en-US" sz="3000" b="1" u="sng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Mentor</a:t>
              </a:r>
            </a:p>
            <a:p>
              <a:pPr algn="ctr">
                <a:lnSpc>
                  <a:spcPts val="3600"/>
                </a:lnSpc>
              </a:pPr>
              <a:endParaRPr lang="en-US" sz="3000" b="1" u="sng" dirty="0">
                <a:solidFill>
                  <a:srgbClr val="000000"/>
                </a:solidFill>
                <a:latin typeface="Times New Roman Bold"/>
                <a:ea typeface="Times New Roman"/>
                <a:cs typeface="Times New Roman Bold"/>
                <a:sym typeface="Times New Roman Bold"/>
              </a:endParaRPr>
            </a:p>
            <a:p>
              <a:pPr algn="ctr">
                <a:lnSpc>
                  <a:spcPts val="3600"/>
                </a:lnSpc>
              </a:pPr>
              <a:endParaRPr lang="en-US" sz="3000" b="1" u="sng" dirty="0">
                <a:solidFill>
                  <a:srgbClr val="000000"/>
                </a:solidFill>
                <a:latin typeface="Times New Roman Bold"/>
                <a:ea typeface="Times New Roman"/>
                <a:cs typeface="Times New Roman Bold"/>
                <a:sym typeface="Times New Roman Bold"/>
              </a:endParaRPr>
            </a:p>
            <a:p>
              <a:pPr algn="ctr">
                <a:lnSpc>
                  <a:spcPts val="3600"/>
                </a:lnSpc>
              </a:pPr>
              <a:r>
                <a:rPr lang="en-US" sz="3000" dirty="0" err="1">
                  <a:solidFill>
                    <a:srgbClr val="000000"/>
                  </a:solidFill>
                  <a:latin typeface="Times New Roman Bold"/>
                  <a:ea typeface="Times New Roman"/>
                  <a:cs typeface="Times New Roman Bold"/>
                  <a:sym typeface="Times New Roman Bold"/>
                </a:rPr>
                <a:t>B.Madhurika</a:t>
              </a:r>
              <a:r>
                <a:rPr lang="en-US" sz="3000" dirty="0">
                  <a:solidFill>
                    <a:srgbClr val="000000"/>
                  </a:solidFill>
                  <a:latin typeface="Times New Roman Bold"/>
                  <a:ea typeface="Times New Roman"/>
                  <a:cs typeface="Times New Roman Bold"/>
                  <a:sym typeface="Times New Roman Bold"/>
                </a:rPr>
                <a:t> mam</a:t>
              </a: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l">
                <a:lnSpc>
                  <a:spcPts val="3600"/>
                </a:lnSpc>
              </a:pPr>
              <a:endParaRPr lang="en-US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415858" y="283212"/>
            <a:ext cx="1545628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BASE PAPER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1554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Story: "The Smart Reader Who Forgets Where They Read It"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1. The Base Paper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OpenScholar (UW / AI2, 2024)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The Big Idea: </a:t>
            </a:r>
            <a:r>
              <a:rPr b="0" sz="1300">
                <a:solidFill>
                  <a:srgbClr val="1E293B"/>
                </a:solidFill>
                <a:latin typeface="Segoe UI"/>
              </a:rPr>
              <a:t>An AI assistant to read multi-paper literature and answer hard research questions.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Existing Way: </a:t>
            </a:r>
            <a:r>
              <a:rPr b="0" sz="1300">
                <a:solidFill>
                  <a:srgbClr val="1E293B"/>
                </a:solidFill>
                <a:latin typeface="Segoe UI"/>
              </a:rPr>
              <a:t>Standard AI answers from memory—guessing fake authors and citations.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Base Paper Flow: </a:t>
            </a:r>
            <a:r>
              <a:rPr b="0" sz="1300">
                <a:solidFill>
                  <a:srgbClr val="1E293B"/>
                </a:solidFill>
                <a:latin typeface="Segoe UI"/>
              </a:rPr>
              <a:t>Dense Search -&gt; Reranker -&gt; LLM with bracketed citations [1].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Key Finding: </a:t>
            </a:r>
            <a:r>
              <a:rPr b="0" sz="1300">
                <a:solidFill>
                  <a:srgbClr val="1E293B"/>
                </a:solidFill>
                <a:latin typeface="Segoe UI"/>
              </a:rPr>
              <a:t>Proved RAG improves factual grounding over closed-book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2. Where It Fails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The 3 Critical Gaps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Blind to Formulas: </a:t>
            </a:r>
            <a:r>
              <a:rPr b="0" sz="1300">
                <a:solidFill>
                  <a:srgbClr val="1E293B"/>
                </a:solidFill>
                <a:latin typeface="Segoe UI"/>
              </a:rPr>
              <a:t>Dense vectors miss exact chemical names &amp; acronyms (e.g. Li10GeP2S12, MAPbI3).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No Fact-Checker: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Generates answers in one shot without verifying if citations are actually true.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Black-Box Answers: </a:t>
            </a:r>
            <a:r>
              <a:rPr b="0" sz="1300">
                <a:solidFill>
                  <a:srgbClr val="1E293B"/>
                </a:solidFill>
                <a:latin typeface="Segoe UI"/>
              </a:rPr>
              <a:t>Gives numbers without showing which sentence or table proved it.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The Real Harm: </a:t>
            </a:r>
            <a:r>
              <a:rPr b="0" sz="1300">
                <a:solidFill>
                  <a:srgbClr val="1E293B"/>
                </a:solidFill>
                <a:latin typeface="Segoe UI"/>
              </a:rPr>
              <a:t>In a science lab, a guessed temperature or formula ruins expensive tests!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78640" y="1371600"/>
            <a:ext cx="493776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3. Our Breakthrough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ResearchNexus AI Extension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Exact Keyword + Meaning: </a:t>
            </a:r>
            <a:r>
              <a:rPr b="0" sz="1300">
                <a:solidFill>
                  <a:srgbClr val="1E293B"/>
                </a:solidFill>
                <a:latin typeface="Segoe UI"/>
              </a:rPr>
              <a:t>Hybrid BM25 + Dense BGE fused via RRF (k=60) so zero formulas are lost.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Auto Fact-Checker: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Phase 3.4 NLI splits text into claims, verifies evidence, and auto-repairs errors.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Visual Heatmap (XAI): </a:t>
            </a:r>
            <a:r>
              <a:rPr b="0" sz="1300">
                <a:solidFill>
                  <a:srgbClr val="1E293B"/>
                </a:solidFill>
                <a:latin typeface="Segoe UI"/>
              </a:rPr>
              <a:t>Colors source passages in gold so humans see the exact proof in 1 click.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The Result: </a:t>
            </a:r>
            <a:r>
              <a:rPr b="0" sz="1300">
                <a:solidFill>
                  <a:srgbClr val="1E293B"/>
                </a:solidFill>
                <a:latin typeface="Segoe UI"/>
              </a:rPr>
              <a:t>Citation precision jumps to 98.0%, unsupported claims drop to only 1.0%!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5858" y="431883"/>
            <a:ext cx="15456284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IN" sz="3600" b="1" dirty="0">
                <a:solidFill>
                  <a:srgbClr val="FF0000"/>
                </a:solidFill>
              </a:rPr>
              <a:t>Project Objectives &amp; System Requirements</a:t>
            </a:r>
            <a:endParaRPr lang="en-IN" sz="3600" dirty="0">
              <a:solidFill>
                <a:srgbClr val="FF0000"/>
              </a:solidFill>
            </a:endParaRPr>
          </a:p>
          <a:p>
            <a:pPr algn="l">
              <a:lnSpc>
                <a:spcPts val="4320"/>
              </a:lnSpc>
            </a:pPr>
            <a:endParaRPr lang="en-US" sz="3600" b="1" dirty="0">
              <a:solidFill>
                <a:srgbClr val="FF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1554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Story: "Building an Honest, Transparent Assistant for Scientists"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1. The Problem &amp; Goal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What We Built &amp; Why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The Problem: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Reading hundreds of papers is slow; general AI generates fake citations.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Main Objective: </a:t>
            </a:r>
            <a:r>
              <a:rPr b="0" sz="1300">
                <a:solidFill>
                  <a:srgbClr val="1E293B"/>
                </a:solidFill>
                <a:latin typeface="Segoe UI"/>
              </a:rPr>
              <a:t>Build a fast, transparent, and evidence-grounded scientific research assistant.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High Accuracy Target: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Retrieve correct evidence &gt;95% of the time (MRR @ 0.972).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Zero Guessing: </a:t>
            </a:r>
            <a:r>
              <a:rPr b="0" sz="1300">
                <a:solidFill>
                  <a:srgbClr val="1E293B"/>
                </a:solidFill>
                <a:latin typeface="Segoe UI"/>
              </a:rPr>
              <a:t>Every single number must point to its verified source passage.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2. Target Users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Who Benefits?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Students (B.Tech / M.Tech): </a:t>
            </a:r>
            <a:r>
              <a:rPr b="0" sz="1300">
                <a:solidFill>
                  <a:srgbClr val="1E293B"/>
                </a:solidFill>
                <a:latin typeface="Segoe UI"/>
              </a:rPr>
              <a:t>Write accurate literature reviews with auto-generated LaTeX tables &amp; BibTeX.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Professors &amp; Postdocs: </a:t>
            </a:r>
            <a:r>
              <a:rPr b="0" sz="1300">
                <a:solidFill>
                  <a:srgbClr val="1E293B"/>
                </a:solidFill>
                <a:latin typeface="Segoe UI"/>
              </a:rPr>
              <a:t>Instantly compare synthesis recipes across 50 papers without opening each PDF.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R&amp;D Industry Labs: </a:t>
            </a:r>
            <a:r>
              <a:rPr b="0" sz="1300">
                <a:solidFill>
                  <a:srgbClr val="1E293B"/>
                </a:solidFill>
                <a:latin typeface="Segoe UI"/>
              </a:rPr>
              <a:t>Verify experimental numbers before running costly physical lab tests.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Journal Reviewers: </a:t>
            </a:r>
            <a:r>
              <a:rPr b="0" sz="1300">
                <a:solidFill>
                  <a:srgbClr val="1E293B"/>
                </a:solidFill>
                <a:latin typeface="Segoe UI"/>
              </a:rPr>
              <a:t>Audit whether submitted paper claims are actually backed by citations.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78640" y="1371600"/>
            <a:ext cx="493776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3. Core Features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The Workspace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Research Explorer: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Filter &amp; explore 670 curated papers with instant chunk inspection.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AI Assistant &amp; RAG: </a:t>
            </a:r>
            <a:r>
              <a:rPr b="0" sz="1300">
                <a:solidFill>
                  <a:srgbClr val="1E293B"/>
                </a:solidFill>
                <a:latin typeface="Segoe UI"/>
              </a:rPr>
              <a:t>Chat with multi-paper evidence-grounded synthesis in sub-3.5 seconds.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Multi-Paper Matrix: </a:t>
            </a:r>
            <a:r>
              <a:rPr b="0" sz="1300">
                <a:solidFill>
                  <a:srgbClr val="1E293B"/>
                </a:solidFill>
                <a:latin typeface="Segoe UI"/>
              </a:rPr>
              <a:t>Extract properties and limitations into side-by-side comparison tables.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Personal PDF Corpus: </a:t>
            </a:r>
            <a:r>
              <a:rPr b="0" sz="1300">
                <a:solidFill>
                  <a:srgbClr val="1E293B"/>
                </a:solidFill>
                <a:latin typeface="Segoe UI"/>
              </a:rPr>
              <a:t>Upload private papers into isolated, secure research vaults.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15858" y="297481"/>
            <a:ext cx="1545628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DESIGN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04672"/>
            <a:ext cx="1554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Story: "The 4-Step Factory: Read -&gt; Find -&gt; Check -&gt; Show"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365760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Step 1: The Reader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Document Ingestion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What It Does: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Reads 670 scientific PDFs and cleans layout noise.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PyMuPDF (fitz): </a:t>
            </a:r>
            <a:r>
              <a:rPr b="0" sz="1300">
                <a:solidFill>
                  <a:srgbClr val="1E293B"/>
                </a:solidFill>
                <a:latin typeface="Segoe UI"/>
              </a:rPr>
              <a:t>Strips page numbers, running headers, and fixes two-column text.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LlamaIndex: </a:t>
            </a:r>
            <a:r>
              <a:rPr b="0" sz="1300">
                <a:solidFill>
                  <a:srgbClr val="1E293B"/>
                </a:solidFill>
                <a:latin typeface="Segoe UI"/>
              </a:rPr>
              <a:t>Chops papers into 14,850 bite-sized chunks (512 tokens each).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Dual Storage: </a:t>
            </a:r>
            <a:r>
              <a:rPr b="0" sz="1300">
                <a:solidFill>
                  <a:srgbClr val="1E293B"/>
                </a:solidFill>
                <a:latin typeface="Segoe UI"/>
              </a:rPr>
              <a:t>Saves chunks into ChromaDB (vector) + PostgreSQL (data).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371600"/>
            <a:ext cx="365760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Step 2: The Detective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Hybrid Search &amp; Reranking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Dual Searching: </a:t>
            </a:r>
            <a:r>
              <a:rPr b="0" sz="1300">
                <a:solidFill>
                  <a:srgbClr val="1E293B"/>
                </a:solidFill>
                <a:latin typeface="Segoe UI"/>
              </a:rPr>
              <a:t>BM25 searches exact formula words; BGE finds conceptual meaning.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RRF Fusion (k=60): </a:t>
            </a:r>
            <a:r>
              <a:rPr b="0" sz="1300">
                <a:solidFill>
                  <a:srgbClr val="1E293B"/>
                </a:solidFill>
                <a:latin typeface="Segoe UI"/>
              </a:rPr>
              <a:t>Combines both search scores fairly without bias.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BGE Cross-Encoder: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Deep re-reading of top 20 chunks to pick the 5 best evidence passages.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The Lift: </a:t>
            </a:r>
            <a:r>
              <a:rPr b="0" sz="1300">
                <a:solidFill>
                  <a:srgbClr val="1E293B"/>
                </a:solidFill>
                <a:latin typeface="Segoe UI"/>
              </a:rPr>
              <a:t>Pushes search rank (MRR) from 0.81 to an outstanding 0.972!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371600"/>
            <a:ext cx="365760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Step 3: The Writer &amp; Inspector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Gemini + Phase 3.4 Verification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Gemini 2.5 Flash: </a:t>
            </a:r>
            <a:r>
              <a:rPr b="0" sz="1300">
                <a:solidFill>
                  <a:srgbClr val="1E293B"/>
                </a:solidFill>
                <a:latin typeface="Segoe UI"/>
              </a:rPr>
              <a:t>Writes structured synthesis strictly using the top 5 chunks.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Claim Slicer: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Splits the answer into sentence-level atomic claims.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NLI Inspector: </a:t>
            </a:r>
            <a:r>
              <a:rPr b="0" sz="1300">
                <a:solidFill>
                  <a:srgbClr val="1E293B"/>
                </a:solidFill>
                <a:latin typeface="Segoe UI"/>
              </a:rPr>
              <a:t>Tests if each claim is Entailed (proved) or Neutral (guessing).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Auto-Repair Loop: </a:t>
            </a:r>
            <a:r>
              <a:rPr b="0" sz="1300">
                <a:solidFill>
                  <a:srgbClr val="1E293B"/>
                </a:solidFill>
                <a:latin typeface="Segoe UI"/>
              </a:rPr>
              <a:t>Surgically rewrites or cuts unproven claims automatically!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167360" y="1371600"/>
            <a:ext cx="365760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Step 4: The Presentation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Interactive Frontend &amp; XAI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React 18 + Vite: </a:t>
            </a:r>
            <a:r>
              <a:rPr b="0" sz="1300">
                <a:solidFill>
                  <a:srgbClr val="1E293B"/>
                </a:solidFill>
                <a:latin typeface="Segoe UI"/>
              </a:rPr>
              <a:t>Fast, modern user interface with 14 modular tabs.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XAI Heatmaps: </a:t>
            </a:r>
            <a:r>
              <a:rPr b="0" sz="1300">
                <a:solidFill>
                  <a:srgbClr val="1E293B"/>
                </a:solidFill>
                <a:latin typeface="Segoe UI"/>
              </a:rPr>
              <a:t>Visual color highlights on source text so students can verify proof.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Matrix Builder: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Auto-builds side-by-side comparison tables across papers.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LaTeX Compiler: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Exports ready-to-compile IEEE manuscripts in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5853" y="408908"/>
            <a:ext cx="1545628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DATASET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1554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Story: "Our Cleaned Library &amp; 14 Working Tools"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1. Curated Dataset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670 Papers &amp; Benchmark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670 Peer-Reviewed Papers: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Real research across Material Science, AI, and Environmental fields.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14,850 Cleaned Chunks: </a:t>
            </a:r>
            <a:r>
              <a:rPr b="0" sz="1300">
                <a:solidFill>
                  <a:srgbClr val="1E293B"/>
                </a:solidFill>
                <a:latin typeface="Segoe UI"/>
              </a:rPr>
              <a:t>512-token semantic chunks with 64-token overlap so no sentences get cut.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ds_nexus_v10 Benchmark: </a:t>
            </a:r>
            <a:r>
              <a:rPr b="0" sz="1300">
                <a:solidFill>
                  <a:srgbClr val="1E293B"/>
                </a:solidFill>
                <a:latin typeface="Segoe UI"/>
              </a:rPr>
              <a:t>100 benchmark questions (70 Dev, 15 Validation, 15 Frozen Test split).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External Connectors: </a:t>
            </a:r>
            <a:r>
              <a:rPr b="0" sz="1300">
                <a:solidFill>
                  <a:srgbClr val="1E293B"/>
                </a:solidFill>
                <a:latin typeface="Segoe UI"/>
              </a:rPr>
              <a:t>Harvesters for arXiv, PMC, Crossref, and OpenAlex.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2. Tech Stack at Work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Languages &amp; Tools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Frontend: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React 18, TypeScript, Vite, Tailwind CSS, Lucide icons.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Backend API: </a:t>
            </a:r>
            <a:r>
              <a:rPr b="0" sz="1300">
                <a:solidFill>
                  <a:srgbClr val="1E293B"/>
                </a:solidFill>
                <a:latin typeface="Segoe UI"/>
              </a:rPr>
              <a:t>FastAPI (Python 3.11 asynchronous ASGI engine).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AI Models: </a:t>
            </a:r>
            <a:r>
              <a:rPr b="0" sz="1300">
                <a:solidFill>
                  <a:srgbClr val="1E293B"/>
                </a:solidFill>
                <a:latin typeface="Segoe UI"/>
              </a:rPr>
              <a:t>BAAI/bge-base-en-v1.5, BGE-Reranker-base, Google Gemini 2.5 Flash.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Databases: </a:t>
            </a:r>
            <a:r>
              <a:rPr b="0" sz="1300">
                <a:solidFill>
                  <a:srgbClr val="1E293B"/>
                </a:solidFill>
                <a:latin typeface="Segoe UI"/>
              </a:rPr>
              <a:t>ChromaDB (vector similarity) + PostgreSQL (sessions &amp; audit logs).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78640" y="1371600"/>
            <a:ext cx="493776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3. Implementation Status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Tested &amp; Verified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Core System: </a:t>
            </a:r>
            <a:r>
              <a:rPr b="0" sz="1300">
                <a:solidFill>
                  <a:srgbClr val="1E293B"/>
                </a:solidFill>
                <a:latin typeface="Segoe UI"/>
              </a:rPr>
              <a:t>100% Implemented &amp; Verified.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Backend Unit Tests: </a:t>
            </a:r>
            <a:r>
              <a:rPr b="0" sz="1300">
                <a:solidFill>
                  <a:srgbClr val="1E293B"/>
                </a:solidFill>
                <a:latin typeface="Segoe UI"/>
              </a:rPr>
              <a:t>112 / 112 Tests Passed (100% pass rate).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Phase 3.4 Claim Verifier: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100% Operational with auto-repair loop.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XAI Heatmaps &amp; Matrix: </a:t>
            </a:r>
            <a:r>
              <a:rPr b="0" sz="1300">
                <a:solidFill>
                  <a:srgbClr val="1E293B"/>
                </a:solidFill>
                <a:latin typeface="Segoe UI"/>
              </a:rPr>
              <a:t>100% Complete with interactive UI controls.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Current System Progress: </a:t>
            </a:r>
            <a:r>
              <a:rPr b="0" sz="1300">
                <a:solidFill>
                  <a:srgbClr val="1E293B"/>
                </a:solidFill>
                <a:latin typeface="Segoe UI"/>
              </a:rPr>
              <a:t>98.5% Functional — 100% Ready for Live Demo!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5853" y="408908"/>
            <a:ext cx="1545628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RESULTS, CHALLENGES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1554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Story: "The Proof in Numbers &amp; What We Conquered"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1. Benchmark Proof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ds_nexus_v10 (N=15 Frozen Test)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E01: Hybrid Baseline: </a:t>
            </a:r>
            <a:r>
              <a:rPr b="0" sz="1300">
                <a:solidFill>
                  <a:srgbClr val="1E293B"/>
                </a:solidFill>
                <a:latin typeface="Segoe UI"/>
              </a:rPr>
              <a:t>MRR 0.812 | Precision 82.4% | Unsupported 16.8%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E02: + Cross-Encoder: </a:t>
            </a:r>
            <a:r>
              <a:rPr b="0" sz="1300">
                <a:solidFill>
                  <a:srgbClr val="1E293B"/>
                </a:solidFill>
                <a:latin typeface="Segoe UI"/>
              </a:rPr>
              <a:t>MRR 0.972 (+20%) | Hit Rate 100% | Precision 88.6%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E03: + Strict Grounding: </a:t>
            </a:r>
            <a:r>
              <a:rPr b="0" sz="1300">
                <a:solidFill>
                  <a:srgbClr val="1E293B"/>
                </a:solidFill>
                <a:latin typeface="Segoe UI"/>
              </a:rPr>
              <a:t>Citation Precision 94.7% | Unsupported 4.6%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E04: + Phase 3.4 Verify: </a:t>
            </a:r>
            <a:r>
              <a:rPr b="0" sz="1300">
                <a:solidFill>
                  <a:srgbClr val="1E293B"/>
                </a:solidFill>
                <a:latin typeface="Segoe UI"/>
              </a:rPr>
              <a:t>Citation Precision 98.0% | Unsupported ONLY 1.0%!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E05: + Iterative Loop: </a:t>
            </a:r>
            <a:r>
              <a:rPr b="0" sz="1300">
                <a:solidFill>
                  <a:srgbClr val="1E293B"/>
                </a:solidFill>
                <a:latin typeface="Segoe UI"/>
              </a:rPr>
              <a:t>Citation Precision 99.2% | Unsupported 0.5%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2. Hurdles We Solved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Engineering Challenges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Missing Chemical Names: </a:t>
            </a:r>
            <a:r>
              <a:rPr b="0" sz="1300">
                <a:solidFill>
                  <a:srgbClr val="1E293B"/>
                </a:solidFill>
                <a:latin typeface="Segoe UI"/>
              </a:rPr>
              <a:t>Vectors missed exact keywords -&gt; Solved by BM25 + Dense RRF fusion.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Context Leakage: </a:t>
            </a:r>
            <a:r>
              <a:rPr b="0" sz="1300">
                <a:solidFill>
                  <a:srgbClr val="1E293B"/>
                </a:solidFill>
                <a:latin typeface="Segoe UI"/>
              </a:rPr>
              <a:t>Noise distracted LLM -&gt; Solved by Enhanced RAG strict context bounding.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Fake Citations: </a:t>
            </a:r>
            <a:r>
              <a:rPr b="0" sz="1300">
                <a:solidFill>
                  <a:srgbClr val="1E293B"/>
                </a:solidFill>
                <a:latin typeface="Segoe UI"/>
              </a:rPr>
              <a:t>LLMs cited non-existent chunk IDs -&gt; Solved by NLI check + auto-repair.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Messy PDF Columns: </a:t>
            </a:r>
            <a:r>
              <a:rPr b="0" sz="1300">
                <a:solidFill>
                  <a:srgbClr val="1E293B"/>
                </a:solidFill>
                <a:latin typeface="Segoe UI"/>
              </a:rPr>
              <a:t>Multi-column text mixed sentences -&gt; Fixed by PyMuPDF box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78640" y="1371600"/>
            <a:ext cx="493776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3. Next Steps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Future Roadmap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OCR for Scanned PDFs: </a:t>
            </a:r>
            <a:r>
              <a:rPr b="0" sz="1300">
                <a:solidFill>
                  <a:srgbClr val="1E293B"/>
                </a:solidFill>
                <a:latin typeface="Segoe UI"/>
              </a:rPr>
              <a:t>Add Tesseract OCR to parse legacy scanned paper archives.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API Caching: </a:t>
            </a:r>
            <a:r>
              <a:rPr b="0" sz="1300">
                <a:solidFill>
                  <a:srgbClr val="1E293B"/>
                </a:solidFill>
                <a:latin typeface="Segoe UI"/>
              </a:rPr>
              <a:t>Add Redis caching for instant repeated queries.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Scale Corpus: </a:t>
            </a:r>
            <a:r>
              <a:rPr b="0" sz="1300">
                <a:solidFill>
                  <a:srgbClr val="1E293B"/>
                </a:solidFill>
                <a:latin typeface="Segoe UI"/>
              </a:rPr>
              <a:t>Expand to 5,000+ papers across expanded scientific disciplines.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Human Evaluation: </a:t>
            </a:r>
            <a:r>
              <a:rPr b="0" sz="1300">
                <a:solidFill>
                  <a:srgbClr val="1E293B"/>
                </a:solidFill>
                <a:latin typeface="Segoe UI"/>
              </a:rPr>
              <a:t>Conduct double-blind usability trials with faculty researchers.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415853" y="418433"/>
            <a:ext cx="154562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RESEARCH &amp; PAPER PUBLICATION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1554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Segoe UI"/>
              </a:defRPr>
            </a:pPr>
            <a:r>
              <a:t>Story: "Our Scientific Contribution &amp; Manuscript Readiness"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1. Research Status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Milestones Completed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Literature Survey: </a:t>
            </a:r>
            <a:r>
              <a:rPr b="0" sz="1300">
                <a:solidFill>
                  <a:srgbClr val="1E293B"/>
                </a:solidFill>
                <a:latin typeface="Segoe UI"/>
              </a:rPr>
              <a:t>100% Completed (analyzed 42 core papers).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Research Gap &amp; Design: </a:t>
            </a:r>
            <a:r>
              <a:rPr b="0" sz="1300">
                <a:solidFill>
                  <a:srgbClr val="1E293B"/>
                </a:solidFill>
                <a:latin typeface="Segoe UI"/>
              </a:rPr>
              <a:t>Identified and engineered into working system.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Methodology &amp; Results: </a:t>
            </a:r>
            <a:r>
              <a:rPr b="0" sz="1300">
                <a:solidFill>
                  <a:srgbClr val="1E293B"/>
                </a:solidFill>
                <a:latin typeface="Segoe UI"/>
              </a:rPr>
              <a:t>Completed across all 5 benchmark stages (E01-E05).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Paper Writing Status: </a:t>
            </a:r>
            <a:r>
              <a:rPr b="0" sz="1300">
                <a:solidFill>
                  <a:srgbClr val="1E293B"/>
                </a:solidFill>
                <a:latin typeface="Segoe UI"/>
              </a:rPr>
              <a:t>IEEE / Springer drafts near complete (98% written).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Publication Status: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Ready for Internal Review by faculty mentor.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600"/>
            <a:ext cx="484632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2. 3 Core Contributions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What Science Gains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1. Claim Verification &amp; Repair: </a:t>
            </a:r>
            <a:r>
              <a:rPr b="0" sz="1300">
                <a:solidFill>
                  <a:srgbClr val="1E293B"/>
                </a:solidFill>
                <a:latin typeface="Segoe UI"/>
              </a:rPr>
              <a:t>Deconstructs text into propositions, tests NLI entailment, and auto-fixes citations.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2. Context Bounding: </a:t>
            </a:r>
            <a:r>
              <a:rPr b="0" sz="1300">
                <a:solidFill>
                  <a:srgbClr val="1E293B"/>
                </a:solidFill>
                <a:latin typeface="Segoe UI"/>
              </a:rPr>
              <a:t>Strictly bounds evidence fed to the LLM, cutting unverified statements to 1.0%.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3. Empirical Benchmark: </a:t>
            </a:r>
            <a:r>
              <a:rPr b="0" sz="1300">
                <a:solidFill>
                  <a:srgbClr val="1E293B"/>
                </a:solidFill>
                <a:latin typeface="Segoe UI"/>
              </a:rPr>
              <a:t>5-stage ablation study with statistical significance on frozen scientific test 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78640" y="1371600"/>
            <a:ext cx="4937760" cy="8046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 bIns="182880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3. Target Venues &amp; Audit</a:t>
            </a:r>
          </a:p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Publication Readiness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Target Venues: </a:t>
            </a:r>
            <a:r>
              <a:rPr b="0" sz="1300">
                <a:solidFill>
                  <a:srgbClr val="1E293B"/>
                </a:solidFill>
                <a:latin typeface="Segoe UI"/>
              </a:rPr>
              <a:t>IEEE International Conference on Big Data / IEEE ICDM / Springer LNCS.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Manuscript Formats: </a:t>
            </a:r>
            <a:r>
              <a:rPr b="0" sz="1300">
                <a:solidFill>
                  <a:srgbClr val="1E293B"/>
                </a:solidFill>
                <a:latin typeface="Segoe UI"/>
              </a:rPr>
              <a:t>Compiled in IEEEtran and Springer LNCS with full BibTeX citations.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Audit Readiness Score: </a:t>
            </a:r>
            <a:r>
              <a:rPr b="0" sz="1300">
                <a:solidFill>
                  <a:srgbClr val="1E293B"/>
                </a:solidFill>
                <a:latin typeface="Segoe UI"/>
              </a:rPr>
              <a:t>143 / 170 Points (84.1% Submission Ready).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b="1" sz="1300">
                <a:solidFill>
                  <a:srgbClr val="1E3A8A"/>
                </a:solidFill>
                <a:latin typeface="Segoe UI"/>
              </a:rPr>
              <a:t>• Current Status: </a:t>
            </a:r>
            <a:r>
              <a:rPr b="0" sz="1300">
                <a:solidFill>
                  <a:srgbClr val="1E293B"/>
                </a:solidFill>
                <a:latin typeface="Segoe UI"/>
              </a:rPr>
              <a:t>Ready for Internal Review (Awaiting final mentor sign-off before upload).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45309" y="4098817"/>
            <a:ext cx="4197391" cy="99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630</Words>
  <Application>Microsoft Office PowerPoint</Application>
  <PresentationFormat>Custom</PresentationFormat>
  <Paragraphs>180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Times New Roman</vt:lpstr>
      <vt:lpstr>Arial</vt:lpstr>
      <vt:lpstr>Calibri</vt:lpstr>
      <vt:lpstr>Arial Bold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SDC 2_REVIEW.pptx</dc:title>
  <dc:creator>Pranadheer Molumuri</dc:creator>
  <cp:lastModifiedBy>Pranadheer Molumuri</cp:lastModifiedBy>
  <cp:revision>3</cp:revision>
  <dcterms:created xsi:type="dcterms:W3CDTF">2006-08-16T00:00:00Z</dcterms:created>
  <dcterms:modified xsi:type="dcterms:W3CDTF">2026-09-16T14:36:32Z</dcterms:modified>
  <dc:identifier>DAHVQXb0VQQ</dc:identifier>
</cp:coreProperties>
</file>